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774" r:id="rId2"/>
    <p:sldMasterId id="2147483730" r:id="rId3"/>
    <p:sldMasterId id="214748375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319" r:id="rId7"/>
    <p:sldId id="328" r:id="rId8"/>
    <p:sldId id="323" r:id="rId9"/>
    <p:sldId id="269" r:id="rId10"/>
    <p:sldId id="292" r:id="rId11"/>
    <p:sldId id="327" r:id="rId12"/>
    <p:sldId id="294" r:id="rId13"/>
    <p:sldId id="298" r:id="rId14"/>
    <p:sldId id="302" r:id="rId15"/>
    <p:sldId id="260" r:id="rId16"/>
  </p:sldIdLst>
  <p:sldSz cx="9144000" cy="6858000" type="screen4x3"/>
  <p:notesSz cx="7104063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-112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2BE"/>
    <a:srgbClr val="346C83"/>
    <a:srgbClr val="FFFFFF"/>
    <a:srgbClr val="035B7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0" autoAdjust="0"/>
    <p:restoredTop sz="95226" autoAdjust="0"/>
  </p:normalViewPr>
  <p:slideViewPr>
    <p:cSldViewPr>
      <p:cViewPr varScale="1">
        <p:scale>
          <a:sx n="126" d="100"/>
          <a:sy n="126" d="100"/>
        </p:scale>
        <p:origin x="786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10" d="100"/>
          <a:sy n="110" d="100"/>
        </p:scale>
        <p:origin x="4543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E5E308D-2364-4F8F-8CE6-CE0D7378F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E5C7BD-A400-441F-B4D9-F6675644B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716A09C-9715-4357-B383-7981C1C1C830}" type="datetimeFigureOut">
              <a:rPr lang="de-AT" smtClean="0"/>
              <a:t>12.03.2024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8A939-DCFA-48C8-B789-893AC09939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4FCD26-56E1-44D9-B16F-CC0C66534A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A75A11F-B7BB-40B5-92C6-4AEA1B352E22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79460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D7EBAE6-3B65-4DEA-8A89-31EB207EBF4E}" type="datetimeFigureOut">
              <a:rPr lang="de-AT" smtClean="0"/>
              <a:t>12.03.2024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2E5E248-15B8-4A9C-8C84-7EABF7E084C2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3721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5811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3524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309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0266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4920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2257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1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9328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7871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73688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5E248-15B8-4A9C-8C84-7EABF7E084C2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3376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emf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/>
          <p:cNvSpPr>
            <a:spLocks noChangeArrowheads="1"/>
          </p:cNvSpPr>
          <p:nvPr/>
        </p:nvSpPr>
        <p:spPr bwMode="auto">
          <a:xfrm>
            <a:off x="-468313" y="-315913"/>
            <a:ext cx="9793288" cy="7173913"/>
          </a:xfrm>
          <a:prstGeom prst="rect">
            <a:avLst/>
          </a:prstGeom>
          <a:solidFill>
            <a:srgbClr val="346C8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5" name="Picture 7" descr="UNI_KLU_powerpoint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-457200" y="6597650"/>
            <a:ext cx="97742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F9248AA-76C4-41CC-A59A-3BBE716AD7DD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300000"/>
            <a:ext cx="1259840" cy="3206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A63724B-C692-4BB5-935C-C2D20D737F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000" y="180000"/>
            <a:ext cx="1818000" cy="5168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828CB5-0548-4C25-AB61-EC9C14AAB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1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7C1E2-9E68-4BEC-9066-3F1EE46D4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1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mit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EF964A4A-C9E8-4120-A2D8-21809F8149A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5970-EE6E-4A61-AB98-7ADE8EC81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3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96E9-2BF7-4747-9854-CCA80BFA7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7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12C75923-0E97-4441-BFEA-5FE381E6DC90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3D812-663F-45DE-97A3-CB4597ED0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2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E1348-309D-4DAF-95A8-D341ECC0B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7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57CDD3D4-714E-45EA-A984-A70A130A9FF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63DE6-5CD6-4ED1-8881-A8536D094F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6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A9AD7-CA90-414F-BA2C-E9171F81F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92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9" name="Bild 1">
            <a:extLst>
              <a:ext uri="{FF2B5EF4-FFF2-40B4-BE49-F238E27FC236}">
                <a16:creationId xmlns:a16="http://schemas.microsoft.com/office/drawing/2014/main" id="{AB6AA8E5-A900-4932-8899-B09B890FF01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73EF9-C984-4D23-B2D8-879AADEC9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5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6176F3-6713-4A42-82B9-B3B99174E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6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BDE234D6-77DA-4C61-8AC4-898A26461BA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38BE38-B0E6-46E3-BF00-4FC3E0086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9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75FC2-368E-449D-9CF4-3D3B08749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61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">
            <a:extLst>
              <a:ext uri="{FF2B5EF4-FFF2-40B4-BE49-F238E27FC236}">
                <a16:creationId xmlns:a16="http://schemas.microsoft.com/office/drawing/2014/main" id="{11B96A4B-4344-4F54-9CCF-454D92F6A7B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3D095-46AF-4F9C-A1E0-94CFB6272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1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E6A42-702A-44E9-8989-85ECEB455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25134B38-90EE-4098-A000-C051D93881A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3BFC9-4F7C-4DAA-85EE-288203568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B8F8B-C710-4E67-A9C0-B901D6445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51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55A6F253-5C83-4DC2-B6A7-62823C8AE54B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434BE-CD81-45B1-AB23-C732DBE86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55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84CE-D1D1-430F-89B1-7F87C1B78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23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BF561437-3E6C-4A1B-A8F4-A4E70B601798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D7A43-6B2D-425B-8F81-E4C32AB20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756ED-007C-4A90-9893-DA6139AFD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87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7B7FAE14-AFA3-4651-A95A-5F173438648B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EEF36-3DA5-4D84-903A-C160C1775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29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0D36-C9F0-4FF8-A930-6AB2C0FFF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FB160-BEEB-4C39-9212-599C9B30E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74513-FEE9-4B9E-95BF-430198D1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7C512-5786-4AEF-B0D3-A885B7BF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103CB-49D7-4A00-8641-A1CD07AD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45FFACEC-7B8B-4294-A300-6ED46BF24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135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DDA2-31F8-41AF-9C3E-6D2DE7461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BC70-663C-4114-95F9-1698F864B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D48F-4C1D-4068-B4BB-7E9D0671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0895-D77A-42FB-8890-381FEDF4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AB744-0187-4618-9E80-C6BD8F90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16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B05E-EFBA-4431-8257-CCD856DB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FB356-4BB6-496E-9DE1-1CFA3E86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AF728-AB11-4577-A38F-157A6B77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91A63-0F62-497C-BC93-77B127AF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2C263-ECB5-4C25-B8C0-118830E5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220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6120-F0D2-4FD1-BA80-ECEB0AA66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96DD-3FF3-47B8-83E2-A032D1EBD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BEF73-E7D3-4964-B19D-C54D516FD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D84E3-26BB-4D49-AFD1-89A613A7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AE15-553F-4427-AC3B-0DA8FF5C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A82E7-874E-466A-A90C-60FC1F33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911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E9D7-034A-4C73-96E8-8091C7B0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C27C-75A0-4584-A636-861CF8042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93B64-20D0-49E9-842E-1E2439C08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35715-0D53-4014-9A3B-1DF54B46D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026F-C743-433B-B603-A31F4629B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B19E7-5209-421F-A1FA-503C6002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4638A2-D6BE-4EE7-8980-A79182E1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BBBD1-56E7-4D68-B6C4-9D661E94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30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7F1B-797A-498F-992A-E1CAA032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B636D-B9C8-4635-8947-14B8C6BE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5ACA6-9BB0-41D2-8709-DE782A70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43773-8FD9-4F55-B512-A44A8A56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06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A0513-979C-434C-AEE7-F7B9010A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3959F-4BE0-4E48-92C3-5C0A9F86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24E92-7100-41DF-90CF-B0671C7F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259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D3BE3-86F6-46FC-A0AB-A10FCBA2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642FD-70AF-4E54-9E51-DEE4CD898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F6EF2-7006-419F-85E8-00FF571F3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2C215-62C8-4B62-BDD4-AF048DB6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8336D-A757-4F15-85D4-93111BBB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68B52-1EFC-4CB4-A5E9-1FFB30A4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35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782B-C9CC-48C4-B98B-8453DFE66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29F42-3ACD-406A-A905-928E7630B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EB1AF-3998-4C5B-903F-B7975EC06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34693-1446-4F4B-A1CC-26A11C3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36DFE-E316-41AE-8D87-DE702949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DFA37-EB74-4F4E-8B2F-7CC63D71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26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F458-A2D7-421D-9EBC-4CECA4F1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76DD0-496F-43F1-B3C4-B4D72BCB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58957-2023-4F43-A3BC-1C23C26A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7B2F-4CFD-45BF-9A99-12A407F6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ABE5-E51B-498A-AD76-F7A96EDB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458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4BD93-C37C-4FEF-969E-BFA71A4A4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EDA8E-3094-4507-BD74-E9FCFCC9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FD8A2-F4CE-4907-B623-F35A7AB1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07392-B36F-45AB-B760-66697E60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7796-89C8-42B2-90D7-AD5896A7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05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/>
          <p:cNvSpPr>
            <a:spLocks noChangeArrowheads="1"/>
          </p:cNvSpPr>
          <p:nvPr/>
        </p:nvSpPr>
        <p:spPr bwMode="auto">
          <a:xfrm>
            <a:off x="-468313" y="-315913"/>
            <a:ext cx="9793288" cy="7173913"/>
          </a:xfrm>
          <a:prstGeom prst="rect">
            <a:avLst/>
          </a:prstGeom>
          <a:solidFill>
            <a:srgbClr val="346C8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5" name="Picture 7" descr="UNI_KLU_powerpoint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-457200" y="6597650"/>
            <a:ext cx="97742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DE0B149-F595-425C-88F7-9661EC3CF6D4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300000"/>
            <a:ext cx="1259840" cy="3206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6223F87-E748-48AD-9278-940AC6CF1F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000" y="180000"/>
            <a:ext cx="1818000" cy="51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56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92380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mit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5B1F6B11-1350-4EAE-9550-7BB583ED9128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16394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882687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B97E0B63-901D-488B-AEAD-B7E9C105B89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646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496462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FE0E9581-9E37-425C-B883-E4E50BC1B020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3972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77810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9" name="Bild 1">
            <a:extLst>
              <a:ext uri="{FF2B5EF4-FFF2-40B4-BE49-F238E27FC236}">
                <a16:creationId xmlns:a16="http://schemas.microsoft.com/office/drawing/2014/main" id="{1FF3E9EC-07C7-4E39-BB15-A92CA0510F09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742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25531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1D186376-561E-423B-B82F-A86E3D99836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59007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1320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">
            <a:extLst>
              <a:ext uri="{FF2B5EF4-FFF2-40B4-BE49-F238E27FC236}">
                <a16:creationId xmlns:a16="http://schemas.microsoft.com/office/drawing/2014/main" id="{7E2E6F13-E583-45E0-8F18-840F76A240D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3554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567282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038CA1AA-7E18-4D49-8E13-C8F9B26D405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1560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6359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38942738-D66E-40B8-AF22-F9DF357909A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69232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211973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F1AAD676-B608-4990-887A-27A910F123D3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6186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201108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E617511A-9989-4BFC-B545-C75A8391A9B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61743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6"/>
          <p:cNvSpPr>
            <a:spLocks noChangeArrowheads="1"/>
          </p:cNvSpPr>
          <p:nvPr/>
        </p:nvSpPr>
        <p:spPr bwMode="auto">
          <a:xfrm>
            <a:off x="-468313" y="-315913"/>
            <a:ext cx="9793288" cy="7173913"/>
          </a:xfrm>
          <a:prstGeom prst="rect">
            <a:avLst/>
          </a:prstGeom>
          <a:solidFill>
            <a:srgbClr val="346C8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pic>
        <p:nvPicPr>
          <p:cNvPr id="5" name="Picture 7" descr="UNI_KLU_powerpoints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-457200" y="6597650"/>
            <a:ext cx="97742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C1BD09B-E5F4-4CA1-9D3F-8F90E71F1373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300000"/>
            <a:ext cx="1259840" cy="3206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9533A2A-46D0-41EE-8473-A94407558E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000" y="180000"/>
            <a:ext cx="1818000" cy="5168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0134A-E8A3-4C96-9FCD-20D04394D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268563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A1800321-644F-4F12-82B7-81D471427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74349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mit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3F0C4FFF-CE76-41CF-99B6-BE9BC05F7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8" name="Bild 1">
            <a:extLst>
              <a:ext uri="{FF2B5EF4-FFF2-40B4-BE49-F238E27FC236}">
                <a16:creationId xmlns:a16="http://schemas.microsoft.com/office/drawing/2014/main" id="{498611F6-9707-436F-B324-BB367B8531D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6870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9F467E37-1CE3-4E10-9C2B-F84A1DCE9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558938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66DE7F12-92EC-48FD-88C0-CEE4F606D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5AA8DC45-ACE0-499C-A694-AB2B989B7B3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5259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7F37BEAE-9D73-4896-8008-16D6CCDCB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268513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743200"/>
            <a:ext cx="3810000" cy="3352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F3CA295A-6ACF-4A40-9125-D6CFA4ABB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C2DBB188-745B-4F42-8892-760019BE6A4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7845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EDC9FEEF-816F-4BE1-9CBC-D033FC894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1415063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8" name="Foliennummernplatzhalter 2">
            <a:extLst>
              <a:ext uri="{FF2B5EF4-FFF2-40B4-BE49-F238E27FC236}">
                <a16:creationId xmlns:a16="http://schemas.microsoft.com/office/drawing/2014/main" id="{786024CE-6726-40C4-865D-80CDC6462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9" name="Bild 1">
            <a:extLst>
              <a:ext uri="{FF2B5EF4-FFF2-40B4-BE49-F238E27FC236}">
                <a16:creationId xmlns:a16="http://schemas.microsoft.com/office/drawing/2014/main" id="{C37311E0-8A08-4738-86A3-F4BD04B4B81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7182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E71873E-98A6-4519-B6DE-CEB8FD2AE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32579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0EA895F5-18C0-4182-B480-FD5A60024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ACF86DE1-DF47-4897-8622-243E19D7927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4019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2">
            <a:extLst>
              <a:ext uri="{FF2B5EF4-FFF2-40B4-BE49-F238E27FC236}">
                <a16:creationId xmlns:a16="http://schemas.microsoft.com/office/drawing/2014/main" id="{8EBA22D9-E6B5-41EF-AAB8-A389CFCBD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604543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59E13E1-DED5-469C-86F7-A2EF2F49B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4" name="Bild 1">
            <a:extLst>
              <a:ext uri="{FF2B5EF4-FFF2-40B4-BE49-F238E27FC236}">
                <a16:creationId xmlns:a16="http://schemas.microsoft.com/office/drawing/2014/main" id="{4AFEBA46-F769-42EC-99B6-79E7B2B59F8B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67526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C2F77FA3-714D-49B1-851E-137C4D6BF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700629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947F75D6-A6D7-4006-8477-7D06332D0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8" name="Bild 1">
            <a:extLst>
              <a:ext uri="{FF2B5EF4-FFF2-40B4-BE49-F238E27FC236}">
                <a16:creationId xmlns:a16="http://schemas.microsoft.com/office/drawing/2014/main" id="{500C6DAC-B6CB-4F01-93CA-CC113DF2AB1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6669745" y="334693"/>
            <a:ext cx="1804655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876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98FF0-C909-4BF3-90F6-D234DAFA5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324563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AT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Bild 1">
            <a:extLst>
              <a:ext uri="{FF2B5EF4-FFF2-40B4-BE49-F238E27FC236}">
                <a16:creationId xmlns:a16="http://schemas.microsoft.com/office/drawing/2014/main" id="{A77815BB-0721-4146-890F-B92C3F3FC547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51AA5-8D10-41C4-B0EE-2260395EB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56314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F061C1C6-6390-481E-89B1-9DF2E8E34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728520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005D42CA-0B49-4584-85FA-0E9B5E5AE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B4A92043-7569-4AAF-A265-6AB3635FF01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80028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8C6BF006-FB85-4086-B08D-4AEEF3580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45779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1295400"/>
            <a:ext cx="1943100" cy="48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1295400"/>
            <a:ext cx="5676900" cy="48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C26E4340-D84F-4999-8C2B-D5F92226D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6216" y="6669360"/>
            <a:ext cx="2627784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6" name="Bild 1">
            <a:extLst>
              <a:ext uri="{FF2B5EF4-FFF2-40B4-BE49-F238E27FC236}">
                <a16:creationId xmlns:a16="http://schemas.microsoft.com/office/drawing/2014/main" id="{F46E7229-622D-4A3A-B5FC-F2AC16968413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7092280" y="180000"/>
            <a:ext cx="1800000" cy="515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985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image" Target="../media/image3.emf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image" Target="../media/image8.jpeg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19"/>
          <a:stretch/>
        </p:blipFill>
        <p:spPr>
          <a:xfrm>
            <a:off x="323528" y="339216"/>
            <a:ext cx="8784976" cy="6360368"/>
          </a:xfrm>
          <a:prstGeom prst="rect">
            <a:avLst/>
          </a:prstGeom>
        </p:spPr>
      </p:pic>
      <p:pic>
        <p:nvPicPr>
          <p:cNvPr id="1026" name="Picture 7" descr="UNI_KLU_powerpoints-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0" y="6597650"/>
            <a:ext cx="91440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95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743200"/>
            <a:ext cx="7772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FC1C27-5AC3-4E51-A354-6CDDFC4A8240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298543"/>
            <a:ext cx="1260000" cy="3201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D54D15-EEC0-4A6E-B300-DA9C588B5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41347" y="659434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E4FF6-DF29-4EAB-AA18-DE473EE4C8E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20" r:id="rId3"/>
    <p:sldLayoutId id="2147483710" r:id="rId4"/>
    <p:sldLayoutId id="2147483721" r:id="rId5"/>
    <p:sldLayoutId id="2147483711" r:id="rId6"/>
    <p:sldLayoutId id="2147483722" r:id="rId7"/>
    <p:sldLayoutId id="2147483712" r:id="rId8"/>
    <p:sldLayoutId id="2147483723" r:id="rId9"/>
    <p:sldLayoutId id="2147483713" r:id="rId10"/>
    <p:sldLayoutId id="2147483724" r:id="rId11"/>
    <p:sldLayoutId id="2147483714" r:id="rId12"/>
    <p:sldLayoutId id="2147483725" r:id="rId13"/>
    <p:sldLayoutId id="2147483715" r:id="rId14"/>
    <p:sldLayoutId id="2147483726" r:id="rId15"/>
    <p:sldLayoutId id="2147483716" r:id="rId16"/>
    <p:sldLayoutId id="2147483727" r:id="rId17"/>
    <p:sldLayoutId id="2147483717" r:id="rId18"/>
    <p:sldLayoutId id="2147483728" r:id="rId19"/>
    <p:sldLayoutId id="2147483718" r:id="rId20"/>
    <p:sldLayoutId id="2147483729" r:id="rId2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AEC6E-0071-4FD9-8B63-AB231B929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60232" y="63093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FACEC-7B8B-4294-A300-6ED46BF24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9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0" t="1075" r="1417" b="1"/>
          <a:stretch/>
        </p:blipFill>
        <p:spPr>
          <a:xfrm>
            <a:off x="35496" y="44624"/>
            <a:ext cx="9073008" cy="6624736"/>
          </a:xfrm>
          <a:prstGeom prst="rect">
            <a:avLst/>
          </a:prstGeom>
        </p:spPr>
      </p:pic>
      <p:pic>
        <p:nvPicPr>
          <p:cNvPr id="1026" name="Picture 7" descr="UNI_KLU_powerpoints-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0" y="6597650"/>
            <a:ext cx="91440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95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743200"/>
            <a:ext cx="7772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63AE4C5-C363-4B8A-8B46-C43BBE7E4349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298543"/>
            <a:ext cx="1260000" cy="3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3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UNI_KLU_powerpoints-2"/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44"/>
          <a:stretch>
            <a:fillRect/>
          </a:stretch>
        </p:blipFill>
        <p:spPr bwMode="auto">
          <a:xfrm>
            <a:off x="0" y="6562238"/>
            <a:ext cx="9144000" cy="2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95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743200"/>
            <a:ext cx="7772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D58902-9AD7-443E-8B4A-B83D3A9A0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52320" y="6669360"/>
            <a:ext cx="1691680" cy="188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64E0E62F-04AA-4A21-A416-6415BB2465AA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445F81F-CEEF-4E48-A043-761DF73C071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000" y="6298543"/>
            <a:ext cx="1260000" cy="3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-112" charset="0"/>
          <a:ea typeface="ＭＳ Ｐゴシック" pitchFamily="-11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27584" y="2286000"/>
            <a:ext cx="7488832" cy="1143000"/>
          </a:xfr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de-DE" sz="2800" b="1" dirty="0">
                <a:solidFill>
                  <a:schemeClr val="bg1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Performance Comparison of Session-based Recommendation Algorithms based on GNNs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94147-EA0F-413B-9840-6B173B1139AF}"/>
              </a:ext>
            </a:extLst>
          </p:cNvPr>
          <p:cNvSpPr txBox="1"/>
          <p:nvPr/>
        </p:nvSpPr>
        <p:spPr>
          <a:xfrm>
            <a:off x="827584" y="3459345"/>
            <a:ext cx="7488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4560"/>
            <a:r>
              <a:rPr lang="en-US" sz="1600" i="0" u="sng" strike="noStrike" baseline="0" dirty="0">
                <a:solidFill>
                  <a:schemeClr val="bg1"/>
                </a:solidFill>
                <a:latin typeface="Candara" panose="020E0502030303020204" pitchFamily="34" charset="0"/>
              </a:rPr>
              <a:t>Faisal Shehzad</a:t>
            </a:r>
            <a:r>
              <a:rPr lang="en-US" sz="1600" i="0" u="none" strike="noStrike" baseline="0" dirty="0">
                <a:solidFill>
                  <a:schemeClr val="bg1"/>
                </a:solidFill>
                <a:latin typeface="Candara" panose="020E0502030303020204" pitchFamily="34" charset="0"/>
              </a:rPr>
              <a:t>, Dietmar Jannach</a:t>
            </a:r>
          </a:p>
          <a:p>
            <a:pPr marR="54560"/>
            <a:r>
              <a:rPr lang="en-US" sz="1600" dirty="0">
                <a:solidFill>
                  <a:srgbClr val="FFFFFF"/>
                </a:solidFill>
                <a:latin typeface="Candara" panose="020E0502030303020204" pitchFamily="34" charset="0"/>
              </a:rPr>
              <a:t>Faisal.Shehzad@aau.at, Dietmar.Jannach@aau.at</a:t>
            </a:r>
            <a:endParaRPr lang="en-US" sz="1600" i="0" u="none" strike="noStrike" baseline="0" dirty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895E5C-03AA-47FE-BE0C-EBCF794BF665}"/>
              </a:ext>
            </a:extLst>
          </p:cNvPr>
          <p:cNvSpPr txBox="1"/>
          <p:nvPr/>
        </p:nvSpPr>
        <p:spPr>
          <a:xfrm>
            <a:off x="827580" y="620688"/>
            <a:ext cx="7488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i="0" u="none" strike="noStrike" baseline="0" dirty="0">
                <a:latin typeface="Candara" panose="020E0502030303020204" pitchFamily="34" charset="0"/>
              </a:rPr>
              <a:t>Introduction </a:t>
            </a:r>
            <a:r>
              <a:rPr lang="en-US" sz="2800" b="1" dirty="0">
                <a:latin typeface="Candara" panose="020E0502030303020204" pitchFamily="34" charset="0"/>
              </a:rPr>
              <a:t>and </a:t>
            </a:r>
            <a:r>
              <a:rPr lang="en-US" sz="2800" b="1" i="0" u="none" strike="noStrike" baseline="0" dirty="0">
                <a:latin typeface="Candara" panose="020E0502030303020204" pitchFamily="34" charset="0"/>
              </a:rPr>
              <a:t>Motivation </a:t>
            </a:r>
            <a:endParaRPr lang="en-US" sz="2800" b="0" i="0" u="none" strike="noStrike" baseline="0" dirty="0">
              <a:latin typeface="Candara" panose="020E0502030303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85A03B-2312-46AE-9E9C-D52D82441B63}"/>
              </a:ext>
            </a:extLst>
          </p:cNvPr>
          <p:cNvCxnSpPr>
            <a:cxnSpLocks/>
          </p:cNvCxnSpPr>
          <p:nvPr/>
        </p:nvCxnSpPr>
        <p:spPr bwMode="auto">
          <a:xfrm>
            <a:off x="2699792" y="1700808"/>
            <a:ext cx="37444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0D27D1-89BA-4EC7-AB21-AE65B142E10C}"/>
              </a:ext>
            </a:extLst>
          </p:cNvPr>
          <p:cNvSpPr txBox="1"/>
          <p:nvPr/>
        </p:nvSpPr>
        <p:spPr>
          <a:xfrm>
            <a:off x="1691680" y="1218238"/>
            <a:ext cx="568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ndara" panose="020E0502030303020204" pitchFamily="34" charset="0"/>
              </a:rPr>
              <a:t>Recommender systems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B9EC01-C00F-48AF-BEDE-BB92FEB67A27}"/>
              </a:ext>
            </a:extLst>
          </p:cNvPr>
          <p:cNvCxnSpPr/>
          <p:nvPr/>
        </p:nvCxnSpPr>
        <p:spPr bwMode="auto">
          <a:xfrm>
            <a:off x="2710326" y="1700808"/>
            <a:ext cx="0" cy="360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D1F402-9D7E-44A1-B95F-AF2C39EAD5E0}"/>
              </a:ext>
            </a:extLst>
          </p:cNvPr>
          <p:cNvCxnSpPr/>
          <p:nvPr/>
        </p:nvCxnSpPr>
        <p:spPr bwMode="auto">
          <a:xfrm>
            <a:off x="6444208" y="1700808"/>
            <a:ext cx="0" cy="360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5E4557-5F2F-4A99-B3FF-DE1CB9C7FF00}"/>
              </a:ext>
            </a:extLst>
          </p:cNvPr>
          <p:cNvCxnSpPr>
            <a:cxnSpLocks/>
          </p:cNvCxnSpPr>
          <p:nvPr/>
        </p:nvCxnSpPr>
        <p:spPr bwMode="auto">
          <a:xfrm>
            <a:off x="4594249" y="1496963"/>
            <a:ext cx="0" cy="20384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1A55E0E-AB05-47EC-8263-9BF5EB172456}"/>
              </a:ext>
            </a:extLst>
          </p:cNvPr>
          <p:cNvSpPr txBox="1"/>
          <p:nvPr/>
        </p:nvSpPr>
        <p:spPr>
          <a:xfrm>
            <a:off x="827581" y="2060848"/>
            <a:ext cx="3722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ndara" panose="020E0502030303020204" pitchFamily="34" charset="0"/>
              </a:rPr>
              <a:t>Conventional recommender systems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17855D-1824-41F8-8125-F3BCFC4F3266}"/>
              </a:ext>
            </a:extLst>
          </p:cNvPr>
          <p:cNvSpPr txBox="1"/>
          <p:nvPr/>
        </p:nvSpPr>
        <p:spPr>
          <a:xfrm>
            <a:off x="4594250" y="2060848"/>
            <a:ext cx="372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solidFill>
                  <a:schemeClr val="accent1"/>
                </a:solidFill>
                <a:latin typeface="Candara" panose="020E0502030303020204" pitchFamily="34" charset="0"/>
              </a:rPr>
              <a:t>Session based recommender systems (SBRS)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D0B828-6BCB-41A3-9902-C8B07DD0BDCB}"/>
              </a:ext>
            </a:extLst>
          </p:cNvPr>
          <p:cNvSpPr txBox="1"/>
          <p:nvPr/>
        </p:nvSpPr>
        <p:spPr>
          <a:xfrm>
            <a:off x="827581" y="2364737"/>
            <a:ext cx="7488835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From a technical point of view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Most SBRS are based on neural models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Need user-item interaction data to generate a recommendation list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CBA27C-4A05-4531-8F2A-84E7524B000D}"/>
              </a:ext>
            </a:extLst>
          </p:cNvPr>
          <p:cNvSpPr txBox="1"/>
          <p:nvPr/>
        </p:nvSpPr>
        <p:spPr>
          <a:xfrm>
            <a:off x="827580" y="3645024"/>
            <a:ext cx="7488835" cy="231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Quite surprisingly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Many studies [1, 2] have shown that simple models (</a:t>
            </a:r>
            <a:r>
              <a:rPr lang="en-US" sz="1600" dirty="0" err="1">
                <a:latin typeface="Candara" panose="020E0502030303020204" pitchFamily="34" charset="0"/>
              </a:rPr>
              <a:t>kNN</a:t>
            </a:r>
            <a:r>
              <a:rPr lang="en-US" sz="1600" dirty="0">
                <a:latin typeface="Candara" panose="020E0502030303020204" pitchFamily="34" charset="0"/>
              </a:rPr>
              <a:t>, etc.) are competitive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Various factors [3] contribute to this “Phantom progress” such as compared to one family of algorithms (neural models), not properly tune baseline models, etc.</a:t>
            </a:r>
          </a:p>
        </p:txBody>
      </p:sp>
      <p:sp>
        <p:nvSpPr>
          <p:cNvPr id="30" name="Foliennummernplatzhalter 1">
            <a:extLst>
              <a:ext uri="{FF2B5EF4-FFF2-40B4-BE49-F238E27FC236}">
                <a16:creationId xmlns:a16="http://schemas.microsoft.com/office/drawing/2014/main" id="{C5D34359-DAE2-4702-9050-597E30528045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01B6C-06FC-46D8-A5C9-B60FC2A1043F}"/>
              </a:ext>
            </a:extLst>
          </p:cNvPr>
          <p:cNvSpPr txBox="1"/>
          <p:nvPr/>
        </p:nvSpPr>
        <p:spPr>
          <a:xfrm>
            <a:off x="827580" y="5916457"/>
            <a:ext cx="7488835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An emerging trends in SBRS (graph neural networks) </a:t>
            </a:r>
          </a:p>
        </p:txBody>
      </p:sp>
    </p:spTree>
    <p:extLst>
      <p:ext uri="{BB962C8B-B14F-4D97-AF65-F5344CB8AC3E}">
        <p14:creationId xmlns:p14="http://schemas.microsoft.com/office/powerpoint/2010/main" val="26082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69908332-9D86-4A10-82A0-F9634FE8DEC3}"/>
              </a:ext>
            </a:extLst>
          </p:cNvPr>
          <p:cNvSpPr txBox="1"/>
          <p:nvPr/>
        </p:nvSpPr>
        <p:spPr>
          <a:xfrm>
            <a:off x="827584" y="1124744"/>
            <a:ext cx="7488832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While examining the literature, we encounter some bad research practices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Fix the embedding size of models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Models’ tuning on test data instead of validation data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Choice of random seeds</a:t>
            </a:r>
          </a:p>
        </p:txBody>
      </p:sp>
      <p:sp>
        <p:nvSpPr>
          <p:cNvPr id="40" name="Foliennummernplatzhalter 1">
            <a:extLst>
              <a:ext uri="{FF2B5EF4-FFF2-40B4-BE49-F238E27FC236}">
                <a16:creationId xmlns:a16="http://schemas.microsoft.com/office/drawing/2014/main" id="{F9CBB8F4-DE86-497D-AC4A-70E0FFA2843E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82311-145D-473C-A828-E14C10A80EB0}"/>
              </a:ext>
            </a:extLst>
          </p:cNvPr>
          <p:cNvSpPr txBox="1"/>
          <p:nvPr/>
        </p:nvSpPr>
        <p:spPr>
          <a:xfrm>
            <a:off x="827580" y="620688"/>
            <a:ext cx="7488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i="0" u="none" strike="noStrike" baseline="0" dirty="0">
                <a:latin typeface="Candara" panose="020E0502030303020204" pitchFamily="34" charset="0"/>
              </a:rPr>
              <a:t>Introduction </a:t>
            </a:r>
            <a:r>
              <a:rPr lang="en-US" sz="2800" b="1" dirty="0">
                <a:latin typeface="Candara" panose="020E0502030303020204" pitchFamily="34" charset="0"/>
              </a:rPr>
              <a:t>and </a:t>
            </a:r>
            <a:r>
              <a:rPr lang="en-US" sz="2800" b="1" i="0" u="none" strike="noStrike" baseline="0" dirty="0">
                <a:latin typeface="Candara" panose="020E0502030303020204" pitchFamily="34" charset="0"/>
              </a:rPr>
              <a:t>Motivation </a:t>
            </a:r>
            <a:endParaRPr lang="en-US" sz="2800" b="0" i="0" u="none" strike="noStrike" baseline="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5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667C9AE-FE74-4683-8A22-57528FAD534B}"/>
              </a:ext>
            </a:extLst>
          </p:cNvPr>
          <p:cNvSpPr txBox="1"/>
          <p:nvPr/>
        </p:nvSpPr>
        <p:spPr>
          <a:xfrm>
            <a:off x="827584" y="620688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Research Question</a:t>
            </a:r>
          </a:p>
        </p:txBody>
      </p:sp>
      <p:sp>
        <p:nvSpPr>
          <p:cNvPr id="40" name="Foliennummernplatzhalter 1">
            <a:extLst>
              <a:ext uri="{FF2B5EF4-FFF2-40B4-BE49-F238E27FC236}">
                <a16:creationId xmlns:a16="http://schemas.microsoft.com/office/drawing/2014/main" id="{F9CBB8F4-DE86-497D-AC4A-70E0FFA2843E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64898-CE90-4435-8277-A8156BD5BBCB}"/>
              </a:ext>
            </a:extLst>
          </p:cNvPr>
          <p:cNvSpPr txBox="1"/>
          <p:nvPr/>
        </p:nvSpPr>
        <p:spPr>
          <a:xfrm>
            <a:off x="827584" y="1124744"/>
            <a:ext cx="7488832" cy="341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we know that simple models outperform the complex models in majority of cases. However, we want to know to what extent this is true for GNN models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Could bad research practices lead to “virtual progress”?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Fixing the embedding size of DL models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Effect of random seeds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Models’ tuning on test data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Comparison with non-tuned models</a:t>
            </a:r>
          </a:p>
        </p:txBody>
      </p:sp>
    </p:spTree>
    <p:extLst>
      <p:ext uri="{BB962C8B-B14F-4D97-AF65-F5344CB8AC3E}">
        <p14:creationId xmlns:p14="http://schemas.microsoft.com/office/powerpoint/2010/main" val="91956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127FB1-7D1B-48EF-9DCB-BD7EFDFEBE9B}"/>
              </a:ext>
            </a:extLst>
          </p:cNvPr>
          <p:cNvSpPr txBox="1"/>
          <p:nvPr/>
        </p:nvSpPr>
        <p:spPr>
          <a:xfrm>
            <a:off x="827581" y="620688"/>
            <a:ext cx="74888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Research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F377E-0A1B-414A-8DB9-8B13B774F373}"/>
              </a:ext>
            </a:extLst>
          </p:cNvPr>
          <p:cNvSpPr txBox="1"/>
          <p:nvPr/>
        </p:nvSpPr>
        <p:spPr>
          <a:xfrm>
            <a:off x="827584" y="1196752"/>
            <a:ext cx="7488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u="sng" dirty="0">
                <a:latin typeface="Candara" panose="020E0502030303020204" pitchFamily="34" charset="0"/>
              </a:rPr>
              <a:t>Session-rec</a:t>
            </a:r>
            <a:r>
              <a:rPr lang="en-US" sz="1600" dirty="0">
                <a:latin typeface="Candara" panose="020E0502030303020204" pitchFamily="34" charset="0"/>
              </a:rPr>
              <a:t> is a python based framework that is developed for conducting experiments for SBRS</a:t>
            </a:r>
          </a:p>
          <a:p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F6161-958B-413F-905D-0B3544744A7D}"/>
              </a:ext>
            </a:extLst>
          </p:cNvPr>
          <p:cNvSpPr txBox="1"/>
          <p:nvPr/>
        </p:nvSpPr>
        <p:spPr>
          <a:xfrm>
            <a:off x="827584" y="198884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ndara" panose="020E0502030303020204" pitchFamily="34" charset="0"/>
              </a:rPr>
              <a:t>Algorithm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91F92-6C0E-45CE-9229-623F0E32E298}"/>
              </a:ext>
            </a:extLst>
          </p:cNvPr>
          <p:cNvSpPr txBox="1"/>
          <p:nvPr/>
        </p:nvSpPr>
        <p:spPr>
          <a:xfrm>
            <a:off x="827582" y="2316936"/>
            <a:ext cx="74888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ndara" panose="020E0502030303020204" pitchFamily="34" charset="0"/>
              </a:rPr>
              <a:t>Graph neural networks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Publication outlets: browsed top-outlets and identified 34 articles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Reproducibility: only considered those articles for reproducibility for which code was available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Eight articles [4-11] were reproduced and added them to the session_rec framework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Candara" panose="020E0502030303020204" pitchFamily="34" charset="0"/>
              </a:rPr>
              <a:t>Baselines: select four strong baselines, which outperform the neural models in previous experiments</a:t>
            </a:r>
            <a:r>
              <a:rPr lang="en-US" sz="1600" u="sng" dirty="0">
                <a:latin typeface="Candara" panose="020E0502030303020204" pitchFamily="34" charset="0"/>
              </a:rPr>
              <a:t> </a:t>
            </a:r>
            <a:endParaRPr lang="en-US" sz="1600" dirty="0">
              <a:latin typeface="Candara" panose="020E0502030303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11" name="Foliennummernplatzhalter 1">
            <a:extLst>
              <a:ext uri="{FF2B5EF4-FFF2-40B4-BE49-F238E27FC236}">
                <a16:creationId xmlns:a16="http://schemas.microsoft.com/office/drawing/2014/main" id="{3C100C40-19CE-420C-9427-D97AC16D29B1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478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A6174A7-59E6-438B-B7FF-4724DBA85E34}"/>
              </a:ext>
            </a:extLst>
          </p:cNvPr>
          <p:cNvSpPr txBox="1"/>
          <p:nvPr/>
        </p:nvSpPr>
        <p:spPr>
          <a:xfrm>
            <a:off x="827584" y="1196752"/>
            <a:ext cx="7488832" cy="217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Dataset selection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Consider three datasets, which are mostly used in the identified articles and  have category information used by two GNN models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RSC15 (</a:t>
            </a:r>
            <a:r>
              <a:rPr lang="en-US" sz="1600" dirty="0" err="1">
                <a:latin typeface="Candara" panose="020E0502030303020204" pitchFamily="34" charset="0"/>
              </a:rPr>
              <a:t>RecSys</a:t>
            </a:r>
            <a:r>
              <a:rPr lang="en-US" sz="1600" dirty="0">
                <a:latin typeface="Candara" panose="020E0502030303020204" pitchFamily="34" charset="0"/>
              </a:rPr>
              <a:t> Challenge 2015)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DIGI (</a:t>
            </a:r>
            <a:r>
              <a:rPr lang="en-US" sz="1600" dirty="0" err="1">
                <a:latin typeface="Candara" panose="020E0502030303020204" pitchFamily="34" charset="0"/>
              </a:rPr>
              <a:t>Diginetica</a:t>
            </a:r>
            <a:r>
              <a:rPr lang="en-US" sz="1600" dirty="0">
                <a:latin typeface="Candara" panose="020E0502030303020204" pitchFamily="34" charset="0"/>
              </a:rPr>
              <a:t> CIKM Cup 2016)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RETAIL (</a:t>
            </a:r>
            <a:r>
              <a:rPr lang="en-US" sz="1600" dirty="0" err="1">
                <a:latin typeface="Candara" panose="020E0502030303020204" pitchFamily="34" charset="0"/>
              </a:rPr>
              <a:t>Retailrocket</a:t>
            </a:r>
            <a:r>
              <a:rPr lang="en-US" sz="1600" dirty="0">
                <a:latin typeface="Candara" panose="020E0502030303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F0504-6196-4158-AA4D-0A76304E4E9B}"/>
              </a:ext>
            </a:extLst>
          </p:cNvPr>
          <p:cNvSpPr txBox="1"/>
          <p:nvPr/>
        </p:nvSpPr>
        <p:spPr>
          <a:xfrm>
            <a:off x="827584" y="3511348"/>
            <a:ext cx="7488832" cy="106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Accuracy measures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Mean reciprocal rank (MRR)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Hit rate (HR)</a:t>
            </a:r>
            <a:endParaRPr lang="en-US" sz="2000" dirty="0">
              <a:latin typeface="Candara" panose="020E0502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22347-B5F6-4A74-93B6-2FADE10E5424}"/>
              </a:ext>
            </a:extLst>
          </p:cNvPr>
          <p:cNvSpPr txBox="1"/>
          <p:nvPr/>
        </p:nvSpPr>
        <p:spPr>
          <a:xfrm>
            <a:off x="827584" y="4596224"/>
            <a:ext cx="74888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</a:rPr>
              <a:t>Beyond accuracy measures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Popularity bias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Training time (T-time)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Prediction time (P-time) requires to generate a recommendation list</a:t>
            </a:r>
            <a:endParaRPr lang="en-US" sz="2000" dirty="0">
              <a:latin typeface="Candara" panose="020E0502030303020204" pitchFamily="34" charset="0"/>
            </a:endParaRPr>
          </a:p>
          <a:p>
            <a:pPr lvl="1"/>
            <a:endParaRPr lang="en-US" sz="2000" dirty="0">
              <a:latin typeface="Candara" panose="020E0502030303020204" pitchFamily="34" charset="0"/>
            </a:endParaRPr>
          </a:p>
        </p:txBody>
      </p:sp>
      <p:sp>
        <p:nvSpPr>
          <p:cNvPr id="14" name="Foliennummernplatzhalter 1">
            <a:extLst>
              <a:ext uri="{FF2B5EF4-FFF2-40B4-BE49-F238E27FC236}">
                <a16:creationId xmlns:a16="http://schemas.microsoft.com/office/drawing/2014/main" id="{7EB789E3-06C4-4AE5-A2A4-54EFDC72171D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04F6C-E6F1-4750-B83F-E50909686DD7}"/>
              </a:ext>
            </a:extLst>
          </p:cNvPr>
          <p:cNvSpPr txBox="1"/>
          <p:nvPr/>
        </p:nvSpPr>
        <p:spPr>
          <a:xfrm>
            <a:off x="827581" y="620688"/>
            <a:ext cx="74888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Research Methodology</a:t>
            </a:r>
          </a:p>
        </p:txBody>
      </p:sp>
    </p:spTree>
    <p:extLst>
      <p:ext uri="{BB962C8B-B14F-4D97-AF65-F5344CB8AC3E}">
        <p14:creationId xmlns:p14="http://schemas.microsoft.com/office/powerpoint/2010/main" val="22165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493A7D-AE58-47CB-B3A1-8514981EFFF8}"/>
              </a:ext>
            </a:extLst>
          </p:cNvPr>
          <p:cNvSpPr txBox="1"/>
          <p:nvPr/>
        </p:nvSpPr>
        <p:spPr>
          <a:xfrm>
            <a:off x="827584" y="620688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Results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62F760-0BC2-4567-A048-0A282656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32422"/>
              </p:ext>
            </p:extLst>
          </p:nvPr>
        </p:nvGraphicFramePr>
        <p:xfrm>
          <a:off x="1187625" y="1855088"/>
          <a:ext cx="669674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9349">
                  <a:extLst>
                    <a:ext uri="{9D8B030D-6E8A-4147-A177-3AD203B41FA5}">
                      <a16:colId xmlns:a16="http://schemas.microsoft.com/office/drawing/2014/main" val="712345632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2070827476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3872518022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2411977209"/>
                    </a:ext>
                  </a:extLst>
                </a:gridCol>
                <a:gridCol w="1339349">
                  <a:extLst>
                    <a:ext uri="{9D8B030D-6E8A-4147-A177-3AD203B41FA5}">
                      <a16:colId xmlns:a16="http://schemas.microsoft.com/office/drawing/2014/main" val="3359673159"/>
                    </a:ext>
                  </a:extLst>
                </a:gridCol>
              </a:tblGrid>
              <a:tr h="22802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ndara" panose="020E0502030303020204" pitchFamily="34" charset="0"/>
                        </a:rPr>
                        <a:t>Table 1: Best performing model for each dataset and each accuracy measure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101412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RSC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 (1/64)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RSC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 (1/12)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DIGI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807390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MRR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SFSKNN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47755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MRR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SFSKNN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8155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CM-HGNN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SR-GNN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00204"/>
                  </a:ext>
                </a:extLst>
              </a:tr>
              <a:tr h="228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CM-HGNN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GNRRW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VSTAN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SR-GNN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3745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CAF6527-67C3-40D3-A40D-F8332507649D}"/>
              </a:ext>
            </a:extLst>
          </p:cNvPr>
          <p:cNvSpPr txBox="1"/>
          <p:nvPr/>
        </p:nvSpPr>
        <p:spPr>
          <a:xfrm>
            <a:off x="1187625" y="3527430"/>
            <a:ext cx="66967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ndara" panose="020E0502030303020204" pitchFamily="34" charset="0"/>
                <a:cs typeface="Times New Roman" panose="02020603050405020304" pitchFamily="18" charset="0"/>
              </a:rPr>
              <a:t>Note: GNN models are highlighted in </a:t>
            </a:r>
            <a:r>
              <a:rPr lang="en-US" sz="1100" dirty="0">
                <a:solidFill>
                  <a:srgbClr val="0B02BE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blue color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D4D77-E8A2-4E02-B4B1-FA06CA7680B2}"/>
              </a:ext>
            </a:extLst>
          </p:cNvPr>
          <p:cNvSpPr txBox="1"/>
          <p:nvPr/>
        </p:nvSpPr>
        <p:spPr>
          <a:xfrm>
            <a:off x="827580" y="3804277"/>
            <a:ext cx="748883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Findings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 Simple models outperform all GNN models in case of MRR values on all datasets (MRR@20 was our optimization criterion)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In six cases, GNN models achieve the best HR@K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 VSTAN and STAN consistently give competitive results for all datasets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More than a half decade, there have been strong baselines with more than 100 citations. However, no one considers them. why?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Empirical studies show the effectiveness of simple models (offline settings)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3650B-41F7-4E0A-93B8-94C950B29439}"/>
              </a:ext>
            </a:extLst>
          </p:cNvPr>
          <p:cNvSpPr txBox="1"/>
          <p:nvPr/>
        </p:nvSpPr>
        <p:spPr>
          <a:xfrm>
            <a:off x="827581" y="1196752"/>
            <a:ext cx="7488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RQ1: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to what extent simple models outperform GNN models</a:t>
            </a:r>
          </a:p>
        </p:txBody>
      </p:sp>
      <p:sp>
        <p:nvSpPr>
          <p:cNvPr id="17" name="Foliennummernplatzhalter 1">
            <a:extLst>
              <a:ext uri="{FF2B5EF4-FFF2-40B4-BE49-F238E27FC236}">
                <a16:creationId xmlns:a16="http://schemas.microsoft.com/office/drawing/2014/main" id="{E7DDF239-6E83-4862-A2EA-00E6F8E45903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939A3-2D4C-4192-B25A-4A8DA0D28A8F}"/>
              </a:ext>
            </a:extLst>
          </p:cNvPr>
          <p:cNvSpPr txBox="1"/>
          <p:nvPr/>
        </p:nvSpPr>
        <p:spPr>
          <a:xfrm>
            <a:off x="1259632" y="1556792"/>
            <a:ext cx="6696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ndara" panose="020E0502030303020204" pitchFamily="34" charset="0"/>
              </a:rPr>
              <a:t>Accuracy measures</a:t>
            </a:r>
          </a:p>
        </p:txBody>
      </p:sp>
    </p:spTree>
    <p:extLst>
      <p:ext uri="{BB962C8B-B14F-4D97-AF65-F5344CB8AC3E}">
        <p14:creationId xmlns:p14="http://schemas.microsoft.com/office/powerpoint/2010/main" val="337410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493A7D-AE58-47CB-B3A1-8514981EFFF8}"/>
              </a:ext>
            </a:extLst>
          </p:cNvPr>
          <p:cNvSpPr txBox="1"/>
          <p:nvPr/>
        </p:nvSpPr>
        <p:spPr>
          <a:xfrm>
            <a:off x="827584" y="620688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Results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62F760-0BC2-4567-A048-0A282656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68214"/>
              </p:ext>
            </p:extLst>
          </p:nvPr>
        </p:nvGraphicFramePr>
        <p:xfrm>
          <a:off x="1187625" y="1844824"/>
          <a:ext cx="6768750" cy="1653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3750">
                  <a:extLst>
                    <a:ext uri="{9D8B030D-6E8A-4147-A177-3AD203B41FA5}">
                      <a16:colId xmlns:a16="http://schemas.microsoft.com/office/drawing/2014/main" val="712345632"/>
                    </a:ext>
                  </a:extLst>
                </a:gridCol>
                <a:gridCol w="1353750">
                  <a:extLst>
                    <a:ext uri="{9D8B030D-6E8A-4147-A177-3AD203B41FA5}">
                      <a16:colId xmlns:a16="http://schemas.microsoft.com/office/drawing/2014/main" val="2070827476"/>
                    </a:ext>
                  </a:extLst>
                </a:gridCol>
                <a:gridCol w="1353750">
                  <a:extLst>
                    <a:ext uri="{9D8B030D-6E8A-4147-A177-3AD203B41FA5}">
                      <a16:colId xmlns:a16="http://schemas.microsoft.com/office/drawing/2014/main" val="3872518022"/>
                    </a:ext>
                  </a:extLst>
                </a:gridCol>
                <a:gridCol w="1353750">
                  <a:extLst>
                    <a:ext uri="{9D8B030D-6E8A-4147-A177-3AD203B41FA5}">
                      <a16:colId xmlns:a16="http://schemas.microsoft.com/office/drawing/2014/main" val="2411977209"/>
                    </a:ext>
                  </a:extLst>
                </a:gridCol>
                <a:gridCol w="1353750">
                  <a:extLst>
                    <a:ext uri="{9D8B030D-6E8A-4147-A177-3AD203B41FA5}">
                      <a16:colId xmlns:a16="http://schemas.microsoft.com/office/drawing/2014/main" val="3359673159"/>
                    </a:ext>
                  </a:extLst>
                </a:gridCol>
              </a:tblGrid>
              <a:tr h="24836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Table 2: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Results are based on the highest values of Pop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@20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, T-time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101412"/>
                  </a:ext>
                </a:extLst>
              </a:tr>
              <a:tr h="24836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RSC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 (1/64)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RSC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 (1/12)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DIGI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807390"/>
                  </a:ext>
                </a:extLst>
              </a:tr>
              <a:tr h="2483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Pop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TAGNN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GCE-GNN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TAGNN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TAGNN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81554"/>
                  </a:ext>
                </a:extLst>
              </a:tr>
              <a:tr h="24836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T-time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GCE-GNN </a:t>
                      </a:r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GCE-GNN </a:t>
                      </a:r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(5)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MGS </a:t>
                      </a:r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GCE-GNN </a:t>
                      </a:r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00204"/>
                  </a:ext>
                </a:extLst>
              </a:tr>
              <a:tr h="24836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Results are based on the lowest values of P-time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rgbClr val="0B02BE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rgbClr val="0B02BE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rgbClr val="0B02BE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rgbClr val="0B02BE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71341"/>
                  </a:ext>
                </a:extLst>
              </a:tr>
              <a:tr h="2483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P-time (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(0.20)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TAGNN </a:t>
                      </a:r>
                      <a:r>
                        <a:rPr lang="en-US" sz="1200" kern="1200" dirty="0">
                          <a:solidFill>
                            <a:srgbClr val="0B02B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SR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SFKNN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(0.40)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3745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CAF6527-67C3-40D3-A40D-F8332507649D}"/>
              </a:ext>
            </a:extLst>
          </p:cNvPr>
          <p:cNvSpPr txBox="1"/>
          <p:nvPr/>
        </p:nvSpPr>
        <p:spPr>
          <a:xfrm>
            <a:off x="1187624" y="3573016"/>
            <a:ext cx="6768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ndara" panose="020E0502030303020204" pitchFamily="34" charset="0"/>
                <a:cs typeface="Times New Roman" panose="02020603050405020304" pitchFamily="18" charset="0"/>
              </a:rPr>
              <a:t>Note: GNN models are highlighted in </a:t>
            </a:r>
            <a:r>
              <a:rPr lang="en-US" sz="1100" dirty="0">
                <a:solidFill>
                  <a:srgbClr val="0B02BE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blue color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D4D77-E8A2-4E02-B4B1-FA06CA7680B2}"/>
              </a:ext>
            </a:extLst>
          </p:cNvPr>
          <p:cNvSpPr txBox="1"/>
          <p:nvPr/>
        </p:nvSpPr>
        <p:spPr>
          <a:xfrm>
            <a:off x="827581" y="3844786"/>
            <a:ext cx="7488832" cy="2554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sz="1600" b="1" dirty="0">
                <a:latin typeface="Candara" panose="020E0502030303020204" pitchFamily="34" charset="0"/>
                <a:cs typeface="Times New Roman" panose="02020603050405020304" pitchFamily="18" charset="0"/>
              </a:rPr>
              <a:t>Findings</a:t>
            </a:r>
          </a:p>
          <a:p>
            <a:pPr marL="800100" lvl="1" indent="-342900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600" dirty="0" err="1">
                <a:latin typeface="Candara" panose="020E0502030303020204" pitchFamily="34" charset="0"/>
              </a:rPr>
              <a:t>kNN</a:t>
            </a:r>
            <a:r>
              <a:rPr lang="en-US" sz="1600" dirty="0">
                <a:latin typeface="Candara" panose="020E0502030303020204" pitchFamily="34" charset="0"/>
              </a:rPr>
              <a:t> models recommend popular stuff, however, the results show a different behavior</a:t>
            </a:r>
          </a:p>
          <a:p>
            <a:pPr marL="800100" lvl="1" indent="-342900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T-time of GNN models depend upon datasets, number of items, session length, etc. (sometimes, they require days)</a:t>
            </a:r>
          </a:p>
          <a:p>
            <a:pPr marL="800100" lvl="1" indent="-342900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P-time of simple models lies near to the fastest GNN model and some GNN models require P-time more than 2 seconds, which is prohibitive in practice</a:t>
            </a:r>
          </a:p>
        </p:txBody>
      </p:sp>
      <p:sp>
        <p:nvSpPr>
          <p:cNvPr id="10" name="Foliennummernplatzhalter 1">
            <a:extLst>
              <a:ext uri="{FF2B5EF4-FFF2-40B4-BE49-F238E27FC236}">
                <a16:creationId xmlns:a16="http://schemas.microsoft.com/office/drawing/2014/main" id="{66928CFC-8F66-490D-8C3F-995908CC6CEB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A53657-FD82-4D34-9A2D-0CFC3288E698}"/>
              </a:ext>
            </a:extLst>
          </p:cNvPr>
          <p:cNvSpPr txBox="1"/>
          <p:nvPr/>
        </p:nvSpPr>
        <p:spPr>
          <a:xfrm>
            <a:off x="1259632" y="1556792"/>
            <a:ext cx="6696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ndara" panose="020E0502030303020204" pitchFamily="34" charset="0"/>
              </a:rPr>
              <a:t>Additional quality measures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C82723-4939-466A-B956-0FAAE6D05E48}"/>
              </a:ext>
            </a:extLst>
          </p:cNvPr>
          <p:cNvSpPr txBox="1"/>
          <p:nvPr/>
        </p:nvSpPr>
        <p:spPr>
          <a:xfrm>
            <a:off x="827581" y="1196752"/>
            <a:ext cx="7488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RQ1: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to what extent simple models outperform GNN models</a:t>
            </a:r>
          </a:p>
        </p:txBody>
      </p:sp>
    </p:spTree>
    <p:extLst>
      <p:ext uri="{BB962C8B-B14F-4D97-AF65-F5344CB8AC3E}">
        <p14:creationId xmlns:p14="http://schemas.microsoft.com/office/powerpoint/2010/main" val="123698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E4B2047-D1E6-44A5-BB9B-D3E093474FDC}"/>
              </a:ext>
            </a:extLst>
          </p:cNvPr>
          <p:cNvSpPr txBox="1"/>
          <p:nvPr/>
        </p:nvSpPr>
        <p:spPr>
          <a:xfrm>
            <a:off x="830193" y="1196752"/>
            <a:ext cx="7488832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RQ2: Could bad research practices lead to “virtual progress”</a:t>
            </a:r>
          </a:p>
        </p:txBody>
      </p:sp>
      <p:sp>
        <p:nvSpPr>
          <p:cNvPr id="14" name="Foliennummernplatzhalter 1">
            <a:extLst>
              <a:ext uri="{FF2B5EF4-FFF2-40B4-BE49-F238E27FC236}">
                <a16:creationId xmlns:a16="http://schemas.microsoft.com/office/drawing/2014/main" id="{A9100B7C-2C0C-4C50-B5E4-C433AD623928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8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AD272D7-1866-4E4B-A9CD-C5162DA72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0967"/>
              </p:ext>
            </p:extLst>
          </p:nvPr>
        </p:nvGraphicFramePr>
        <p:xfrm>
          <a:off x="1763688" y="1707962"/>
          <a:ext cx="5616625" cy="20810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83189984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28750610"/>
                    </a:ext>
                  </a:extLst>
                </a:gridCol>
                <a:gridCol w="3456385">
                  <a:extLst>
                    <a:ext uri="{9D8B030D-6E8A-4147-A177-3AD203B41FA5}">
                      <a16:colId xmlns:a16="http://schemas.microsoft.com/office/drawing/2014/main" val="3597344061"/>
                    </a:ext>
                  </a:extLst>
                </a:gridCol>
              </a:tblGrid>
              <a:tr h="437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Sr. No.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Bad Research Practices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Performance difference between the worst and the best MRR value of a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073576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Embedding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&gt; 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728068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Random 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&gt; 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376931"/>
                  </a:ext>
                </a:extLst>
              </a:tr>
              <a:tr h="43734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Models’ tuning on 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3% to 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441645"/>
                  </a:ext>
                </a:extLst>
              </a:tr>
              <a:tr h="43734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ndara" panose="020E0502030303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Comparison with non-tuned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2"/>
                          </a:solidFill>
                          <a:latin typeface="Candara" panose="020E0502030303020204" pitchFamily="34" charset="0"/>
                          <a:cs typeface="Times New Roman" panose="02020603050405020304" pitchFamily="18" charset="0"/>
                        </a:rPr>
                        <a:t>Everyone’s a Winner! On Hyperparameter Tuning [12]</a:t>
                      </a:r>
                      <a:endParaRPr lang="en-US" sz="12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7494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CB6A09-F60B-4C8F-B55F-FA33A8F75379}"/>
              </a:ext>
            </a:extLst>
          </p:cNvPr>
          <p:cNvSpPr txBox="1"/>
          <p:nvPr/>
        </p:nvSpPr>
        <p:spPr>
          <a:xfrm>
            <a:off x="827584" y="620688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dirty="0">
                <a:latin typeface="Candara" panose="020E0502030303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15784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079D3-E566-4E61-9CB4-5E4C87F9F4A6}"/>
              </a:ext>
            </a:extLst>
          </p:cNvPr>
          <p:cNvSpPr txBox="1"/>
          <p:nvPr/>
        </p:nvSpPr>
        <p:spPr>
          <a:xfrm>
            <a:off x="827584" y="1196752"/>
            <a:ext cx="7488832" cy="2885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Analysis of identified articles shows that new proposals were compared to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With only recent algorithms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One family of algorithms (neural models)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Were not compared to simpler models that show competitive performance in empirical studies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latin typeface="Candara" panose="020E0502030303020204" pitchFamily="34" charset="0"/>
                <a:cs typeface="Times New Roman" panose="02020603050405020304" pitchFamily="18" charset="0"/>
              </a:rPr>
              <a:t>On a positive note, there is much room for improvement in the SBRS as there are not enough studies that take into account additional information of items. So, there is “still a long way to go”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A6875-9F4B-4A03-9816-255AF520B8CF}"/>
              </a:ext>
            </a:extLst>
          </p:cNvPr>
          <p:cNvSpPr txBox="1"/>
          <p:nvPr/>
        </p:nvSpPr>
        <p:spPr>
          <a:xfrm>
            <a:off x="827584" y="622429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ndara" panose="020E0502030303020204" pitchFamily="34" charset="0"/>
                <a:cs typeface="Times New Roman" panose="02020603050405020304" pitchFamily="18" charset="0"/>
              </a:rPr>
              <a:t>C</a:t>
            </a:r>
            <a:r>
              <a:rPr lang="en-US" sz="2800" b="1" i="0" strike="noStrike" baseline="0" dirty="0">
                <a:latin typeface="Candara" panose="020E0502030303020204" pitchFamily="34" charset="0"/>
                <a:cs typeface="Times New Roman" panose="02020603050405020304" pitchFamily="18" charset="0"/>
              </a:rPr>
              <a:t>onclusions</a:t>
            </a:r>
            <a:endParaRPr lang="en-US" sz="2800" b="1" dirty="0"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oliennummernplatzhalter 1">
            <a:extLst>
              <a:ext uri="{FF2B5EF4-FFF2-40B4-BE49-F238E27FC236}">
                <a16:creationId xmlns:a16="http://schemas.microsoft.com/office/drawing/2014/main" id="{F384EDD2-4D6D-4BF4-867A-35D504862117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676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4CFE52C-7545-4AA5-9C37-40FAB7C9053F}"/>
              </a:ext>
            </a:extLst>
          </p:cNvPr>
          <p:cNvSpPr txBox="1"/>
          <p:nvPr/>
        </p:nvSpPr>
        <p:spPr>
          <a:xfrm>
            <a:off x="827584" y="2996952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Candara" panose="020E0502030303020204" pitchFamily="34" charset="0"/>
                <a:cs typeface="Times New Roman" panose="02020603050405020304" pitchFamily="18" charset="0"/>
              </a:rPr>
              <a:t>Thank you for your attention</a:t>
            </a:r>
          </a:p>
        </p:txBody>
      </p:sp>
      <p:sp>
        <p:nvSpPr>
          <p:cNvPr id="5" name="Foliennummernplatzhalter 1">
            <a:extLst>
              <a:ext uri="{FF2B5EF4-FFF2-40B4-BE49-F238E27FC236}">
                <a16:creationId xmlns:a16="http://schemas.microsoft.com/office/drawing/2014/main" id="{CCF205CF-053B-47C7-B19D-D4B383C5659C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454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1DD18-CB1D-46CB-84C9-5FE2ED48A7EE}"/>
              </a:ext>
            </a:extLst>
          </p:cNvPr>
          <p:cNvSpPr txBox="1"/>
          <p:nvPr/>
        </p:nvSpPr>
        <p:spPr>
          <a:xfrm>
            <a:off x="827584" y="620688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3250" algn="ctr"/>
            <a:r>
              <a:rPr lang="en-US" sz="2800" b="1" i="0" u="none" strike="noStrike" baseline="0" dirty="0">
                <a:latin typeface="+mn-lt"/>
              </a:rPr>
              <a:t>References </a:t>
            </a:r>
            <a:endParaRPr lang="en-US" sz="2800" b="0" i="0" u="none" strike="noStrike" baseline="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9E030-ACB0-496A-9572-D5C901DD930F}"/>
              </a:ext>
            </a:extLst>
          </p:cNvPr>
          <p:cNvSpPr txBox="1"/>
          <p:nvPr/>
        </p:nvSpPr>
        <p:spPr>
          <a:xfrm>
            <a:off x="827584" y="1340768"/>
            <a:ext cx="74888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Garg, Diksha, et al. "Sequence and Time Aware Neighborhood for Session-based Recommendations: STAN." Proceedings of the 42nd International ACM SIGIR Conference on Research and Development in Information Retrieval. 2019.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Jannach, Dietmar, and Malte </a:t>
            </a: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Ludewig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. "When Recurrent Neural Networks Meet the Neighborhood for Session-based Recommendation." Proceedings of the Eleventh ACM Conference on Recommender Systems. 2017.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Cremonesi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, Paolo, and Dietmar Jannach. "Progress in Recommender Systems Research: Crisis? What crisis?." AI Magazine 42.3 (2021): 43-54.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Wu, Shu, et al. "Session-based Recommendation with Graph Neural Networks." Proceedings of the AAAI Conference on Artificial Intelligence. Vol. 33. No. 01. 2019.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Wang, Ziyang, et al. "Global Context Enhanced Graph Neural Networks for Session-based Recommendation." Proceedings of the 43rd International ACM SIGIR Conference on Research and Development in Information Retrieval. 2020.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Xia, Xin, et al. "Self-supervised Graph Co-training for Session-based Recommendation." Proceedings of the 30th ACM International Conference on Information &amp; Knowledge Management. 2021.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Zhang, </a:t>
            </a: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Zizhuo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, and Bang Wang. "Graph Neighborhood Routing and Random Walk for Session-based Recommendation." 2021 IEEE International Conference on Data Mining (ICDM). IEEE, 2021.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Zhang, </a:t>
            </a: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Zizhuo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, and Bang Wang. "Fusion of Latent Categorical Prediction and Sequential Prediction for Session-based recommendation." Information Sciences 569 (2021): 125-137.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Xu, Hao, et al. "Category-aware Multi-relation Heterogeneous Graph Neural Networks for Session-based Recommendation." Knowledge-Based Systems 251 (2022): 109246.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Yu, Feng, et al. "TAGNN: Target Attentive Graph Neural Networks for Session-based Recommendation." Proceedings of the 43rd International ACM SIGIR Conference on Research and Development in Information Retrieval. 2020.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Lai, </a:t>
            </a: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Siqi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, et al. "An Attribute-driven Mirror Graph Network for Session-based Recommendation." Proceedings of the 45th International ACM SIGIR Conference on Research and Development in Information Retrieval. 2022.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Shehzad, Faisal, and Dietmar Jannach. "</a:t>
            </a:r>
            <a:r>
              <a:rPr lang="en-US" sz="1000" dirty="0" err="1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Everyone’sa</a:t>
            </a:r>
            <a:r>
              <a:rPr lang="en-US" sz="1000" dirty="0">
                <a:solidFill>
                  <a:srgbClr val="222222"/>
                </a:solidFill>
                <a:latin typeface="+mj-lt"/>
                <a:cs typeface="Times New Roman" panose="02020603050405020304" pitchFamily="18" charset="0"/>
              </a:rPr>
              <a:t> Winner! on Hyperparameter Tuning of Recommendation Models." Proceedings of the 17th ACM Conference on Recommender Systems. 2023.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>
              <a:solidFill>
                <a:srgbClr val="222222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Foliennummernplatzhalter 1">
            <a:extLst>
              <a:ext uri="{FF2B5EF4-FFF2-40B4-BE49-F238E27FC236}">
                <a16:creationId xmlns:a16="http://schemas.microsoft.com/office/drawing/2014/main" id="{8FA1451C-88D8-45D1-86C6-1FACC8AB5598}"/>
              </a:ext>
            </a:extLst>
          </p:cNvPr>
          <p:cNvSpPr txBox="1">
            <a:spLocks/>
          </p:cNvSpPr>
          <p:nvPr/>
        </p:nvSpPr>
        <p:spPr>
          <a:xfrm>
            <a:off x="8820472" y="6669360"/>
            <a:ext cx="323528" cy="18864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-112" charset="-128"/>
                <a:cs typeface="+mn-cs"/>
              </a:defRPr>
            </a:lvl9pPr>
          </a:lstStyle>
          <a:p>
            <a:r>
              <a:rPr lang="de-AT" sz="1000" dirty="0">
                <a:latin typeface="Candara" panose="020E0502030303020204" pitchFamily="34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146575"/>
      </p:ext>
    </p:extLst>
  </p:cSld>
  <p:clrMapOvr>
    <a:masterClrMapping/>
  </p:clrMapOvr>
</p:sld>
</file>

<file path=ppt/theme/theme1.xml><?xml version="1.0" encoding="utf-8"?>
<a:theme xmlns:a="http://schemas.openxmlformats.org/drawingml/2006/main" name="AAU Brücke Mittelgang">
  <a:themeElements>
    <a:clrScheme name="AAU Corporate Desig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4799C"/>
      </a:accent1>
      <a:accent2>
        <a:srgbClr val="336B81"/>
      </a:accent2>
      <a:accent3>
        <a:srgbClr val="88C73C"/>
      </a:accent3>
      <a:accent4>
        <a:srgbClr val="7A8C8E"/>
      </a:accent4>
      <a:accent5>
        <a:srgbClr val="E8E8E8"/>
      </a:accent5>
      <a:accent6>
        <a:srgbClr val="3494BA"/>
      </a:accent6>
      <a:hlink>
        <a:srgbClr val="04799C"/>
      </a:hlink>
      <a:folHlink>
        <a:srgbClr val="336B8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AU Haupteingang">
  <a:themeElements>
    <a:clrScheme name="AAU Corporate Desig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4799C"/>
      </a:accent1>
      <a:accent2>
        <a:srgbClr val="336B81"/>
      </a:accent2>
      <a:accent3>
        <a:srgbClr val="88C73C"/>
      </a:accent3>
      <a:accent4>
        <a:srgbClr val="7A8C8E"/>
      </a:accent4>
      <a:accent5>
        <a:srgbClr val="E8E8E8"/>
      </a:accent5>
      <a:accent6>
        <a:srgbClr val="3494BA"/>
      </a:accent6>
      <a:hlink>
        <a:srgbClr val="04799C"/>
      </a:hlink>
      <a:folHlink>
        <a:srgbClr val="336B8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Solo mit Logo und Keyvisual">
  <a:themeElements>
    <a:clrScheme name="AAU Corporate Desig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4799C"/>
      </a:accent1>
      <a:accent2>
        <a:srgbClr val="336B81"/>
      </a:accent2>
      <a:accent3>
        <a:srgbClr val="88C73C"/>
      </a:accent3>
      <a:accent4>
        <a:srgbClr val="7A8C8E"/>
      </a:accent4>
      <a:accent5>
        <a:srgbClr val="E8E8E8"/>
      </a:accent5>
      <a:accent6>
        <a:srgbClr val="3494BA"/>
      </a:accent6>
      <a:hlink>
        <a:srgbClr val="04799C"/>
      </a:hlink>
      <a:folHlink>
        <a:srgbClr val="336B81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2012_Powerpoint_Vorlage_AAU</Template>
  <TotalTime>0</TotalTime>
  <Words>1274</Words>
  <Application>Microsoft Office PowerPoint</Application>
  <PresentationFormat>On-screen Show (4:3)</PresentationFormat>
  <Paragraphs>173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Candara</vt:lpstr>
      <vt:lpstr>Times New Roman</vt:lpstr>
      <vt:lpstr>Trebuchet MS</vt:lpstr>
      <vt:lpstr>Wingdings</vt:lpstr>
      <vt:lpstr>AAU Brücke Mittelgang</vt:lpstr>
      <vt:lpstr>Custom Design</vt:lpstr>
      <vt:lpstr>AAU Haupteingang</vt:lpstr>
      <vt:lpstr>Solo mit Logo und Keyvisual</vt:lpstr>
      <vt:lpstr>Performance Comparison of Session-based Recommendation Algorithms based on GNNs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Ich bin eine Headline</dc:title>
  <dc:creator>Windows-Benutzer</dc:creator>
  <cp:lastModifiedBy>Faisal Shehzad</cp:lastModifiedBy>
  <cp:revision>1818</cp:revision>
  <cp:lastPrinted>2021-05-27T12:54:09Z</cp:lastPrinted>
  <dcterms:created xsi:type="dcterms:W3CDTF">2012-12-10T11:09:19Z</dcterms:created>
  <dcterms:modified xsi:type="dcterms:W3CDTF">2024-03-12T15:31:40Z</dcterms:modified>
</cp:coreProperties>
</file>